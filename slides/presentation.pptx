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Predator-Prey Gridworld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0C4DE"/>
                </a:solidFill>
                <a:latin typeface="Calibri"/>
              </a:rPr>
              <a:t>A Modular Multi-Agent Reinforcement Learning Testbed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103601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A8C8"/>
                </a:solidFill>
                <a:latin typeface="Calibri"/>
              </a:rPr>
              <a:t>Student Orientation  • 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88"/>
                </a:solidFill>
                <a:latin typeface="Calibri"/>
              </a:rPr>
              <a:t>Predator-Prey Archetype Gridworld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63240"/>
            <a:ext cx="103601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Section 1: 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The problem we solve and our 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Problem with Most MARL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  <a:latin typeface="Calibri"/>
              </a:rPr>
              <a:t>Most research environments tangle concerns that should be independent: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D2D2D"/>
                </a:solidFill>
                <a:latin typeface="Calibri"/>
              </a:rPr>
              <a:t>•  Environment dynamics and learning algorithm live in the same class</a:t>
            </a:r>
          </a:p>
          <a:p>
            <a:r>
              <a:rPr sz="1700">
                <a:solidFill>
                  <a:srgbClr val="2D2D2D"/>
                </a:solidFill>
                <a:latin typeface="Calibri"/>
              </a:rPr>
              <a:t>•  Opaque reward computation — you can't trace why a policy improves</a:t>
            </a:r>
          </a:p>
          <a:p>
            <a:r>
              <a:rPr sz="1700">
                <a:solidFill>
                  <a:srgbClr val="2D2D2D"/>
                </a:solidFill>
                <a:latin typeface="Calibri"/>
              </a:rPr>
              <a:t>•  Global random state makes experiments non-reproducible across machines</a:t>
            </a:r>
          </a:p>
          <a:p>
            <a:r>
              <a:rPr sz="1700">
                <a:solidFill>
                  <a:srgbClr val="2D2D2D"/>
                </a:solidFill>
                <a:latin typeface="Calibri"/>
              </a:rPr>
              <a:t>•  Changing one variable (e.g. reward shape) silently affects others</a:t>
            </a:r>
          </a:p>
          <a:p>
            <a:r>
              <a:rPr sz="1700">
                <a:solidFill>
                  <a:srgbClr val="2D2D2D"/>
                </a:solidFill>
                <a:latin typeface="Calibri"/>
              </a:rPr>
              <a:t>•  Hard to run controlled ablations — observation vs reward vs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11274552" cy="1463040"/>
          </a:xfrm>
          <a:prstGeom prst="rect">
            <a:avLst/>
          </a:prstGeom>
          <a:solidFill>
            <a:srgbClr val="E8F4FD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E3A5F"/>
                </a:solidFill>
                <a:latin typeface="Calibri"/>
              </a:rPr>
              <a:t>"We need an environment where each layer can be studied independently,
with full reproducibility and zero surprise interactions between components."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This Project Is — and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49240" cy="5303520"/>
          </a:xfrm>
          <a:prstGeom prst="rect">
            <a:avLst/>
          </a:prstGeom>
          <a:solidFill>
            <a:srgbClr val="F0FBF4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7A40"/>
                </a:solidFill>
                <a:latin typeface="Calibri"/>
              </a:rPr>
              <a:t>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A controlled lab for teaching and researching RL/MARL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Config-driven — one YAML change = one experimental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Fully deterministic — same seed, same trajectory, always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Plugin-based — swap observations, rewards, and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69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Traceable — every transition can be verified by hand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914400"/>
            <a:ext cx="5349240" cy="5303520"/>
          </a:xfrm>
          <a:prstGeom prst="rect">
            <a:avLst/>
          </a:prstGeom>
          <a:solidFill>
            <a:srgbClr val="FEF5F5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960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508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✗  A high-performance training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✗  A continuous-action or visual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88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✗  A replacement for PettingZoo or SMAC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✗  Optimised for GPU-scale deep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69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✗  A ready-made publication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7A40"/>
                </a:solidFill>
                <a:latin typeface="Calibri"/>
              </a:rPr>
              <a:t>← designed for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  <a:latin typeface="Calibri"/>
              </a:rPr>
              <a:t>out of scope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63240"/>
            <a:ext cx="103601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Section 2: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Four layers, one golden rule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Four-Layer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Every component lives in exactly one layer. Dependencies flow downward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1051560"/>
          </a:xfrm>
          <a:prstGeom prst="rect">
            <a:avLst/>
          </a:prstGeom>
          <a:solidFill>
            <a:srgbClr val="21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Layer 4  —  Scripts &amp;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DD"/>
                </a:solidFill>
                <a:latin typeface="Calibri"/>
              </a:rPr>
              <a:t>run_from_config.py  •  evaluate.py  •  sweep.py  •  render.py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99032"/>
            <a:ext cx="3337560" cy="886968"/>
          </a:xfrm>
          <a:prstGeom prst="rect">
            <a:avLst/>
          </a:prstGeom>
          <a:solidFill>
            <a:srgbClr val="58A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5544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Drives training runs from YAML 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41448"/>
            <a:ext cx="11430000" cy="105156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Layer 3  —  Baselines (Learning Algorithms)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4436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DD"/>
                </a:solidFill>
                <a:latin typeface="Calibri"/>
              </a:rPr>
              <a:t>IQL  •  CQL  •  MixedTrainer  •  (future: DQN, PPO, Nash Q)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514600"/>
            <a:ext cx="3337560" cy="886968"/>
          </a:xfrm>
          <a:prstGeom prst="rect">
            <a:avLst/>
          </a:prstGeom>
          <a:solidFill>
            <a:srgbClr val="51B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6700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Selects actions, updates Q-tables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57015"/>
            <a:ext cx="11430000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301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Layer 2  —  Plugins (Observations + Rewards)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59935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DD"/>
                </a:solidFill>
                <a:latin typeface="Calibri"/>
              </a:rPr>
              <a:t>5 observation builders  •  3 reward functions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630168"/>
            <a:ext cx="3337560" cy="886968"/>
          </a:xfrm>
          <a:prstGeom prst="rect">
            <a:avLst/>
          </a:prstGeom>
          <a:solidFill>
            <a:srgbClr val="FFB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785615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Transforms env state into percepts and signals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72583"/>
            <a:ext cx="11430000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4573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Layer 1  —  Core Environment   ★ IMMUTABLE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75503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DD"/>
                </a:solidFill>
                <a:latin typeface="Calibri"/>
              </a:rPr>
              <a:t>core/gridworld.py  •  core/agent.py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4745736"/>
            <a:ext cx="3337560" cy="886968"/>
          </a:xfrm>
          <a:prstGeom prst="rect">
            <a:avLst/>
          </a:prstGeom>
          <a:solidFill>
            <a:srgbClr val="F7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901183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Grid physics, movement, capture — never modified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Five Core Design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These rules protect the scientific validity of every experiment.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822960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Immutable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435607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src/core/ is never modified by contributors. Physics must not change between experiments.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12848"/>
            <a:ext cx="11430000" cy="822960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Seeded Randomness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322576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env.reset(seed=n) with the same n always produces the exact same trajectory.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99815"/>
            <a:ext cx="11430000" cy="822960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9125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Read-Only Plugins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09544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Observation builders and reward functions observe state — they never write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86783"/>
            <a:ext cx="11430000" cy="822960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7822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Config Drives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096511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If you need behavioral change, write a plugin. If you think you need to edit core, that is a design bug.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73751"/>
            <a:ext cx="11430000" cy="822960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6519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Black-Box Algos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983479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Algorithms may only call env.reset() and env.step(). No peeking at env.agents or internal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Plugin &amp; Registry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Plugins are discovered at runtime from YAML keys — no hardcoded imports in core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011680" cy="1417320"/>
          </a:xfrm>
          <a:prstGeom prst="rect">
            <a:avLst/>
          </a:prstGeom>
          <a:solidFill>
            <a:srgbClr val="21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YAML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83664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urier New"/>
              </a:rPr>
              <a:t>type: local_radius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17320"/>
            <a:ext cx="2011680" cy="141732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463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83664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urier New"/>
              </a:rPr>
              <a:t>get_observation_
builder(key)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417320"/>
            <a:ext cx="2011680" cy="141732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1463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Instantiation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1883664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urier New"/>
              </a:rPr>
              <a:t>LocalRadius
Obs(**params)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417320"/>
            <a:ext cx="2011680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1463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1883664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urier New"/>
              </a:rPr>
              <a:t>env.observation_
builder = fn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1417320"/>
            <a:ext cx="201168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4630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Called Each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1883664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urier New"/>
              </a:rPr>
              <a:t>self.observation_
builder(self)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08960"/>
            <a:ext cx="11430000" cy="3108960"/>
          </a:xfrm>
          <a:prstGeom prst="rect">
            <a:avLst/>
          </a:prstGeom>
          <a:solidFill>
            <a:srgbClr val="F5F8FF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Why this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033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  <a:latin typeface="Calibri"/>
              </a:rPr>
              <a:t>•  Adding a new observation builder: one new file + one registry line — zero core changes</a:t>
            </a:r>
          </a:p>
          <a:p>
            <a:r>
              <a:rPr sz="1500">
                <a:solidFill>
                  <a:srgbClr val="2D2D2D"/>
                </a:solidFill>
                <a:latin typeface="Calibri"/>
              </a:rPr>
              <a:t>•  Algorithm author never imports the builder directly — YAML is the only coupling point</a:t>
            </a:r>
          </a:p>
          <a:p>
            <a:r>
              <a:rPr sz="1500">
                <a:solidFill>
                  <a:srgbClr val="2D2D2D"/>
                </a:solidFill>
                <a:latin typeface="Calibri"/>
              </a:rPr>
              <a:t>•  Core code never changes — all prior experiments remain valid after adding a plugin</a:t>
            </a:r>
          </a:p>
          <a:p>
            <a:r>
              <a:rPr sz="1500">
                <a:solidFill>
                  <a:srgbClr val="2D2D2D"/>
                </a:solidFill>
                <a:latin typeface="Calibri"/>
              </a:rPr>
              <a:t>•  Pattern is identical across all three extension points (obs / reward / algorithm)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Extension Points — The Three Contribution Pathways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3200400"/>
                <a:gridCol w="2286000"/>
                <a:gridCol w="2514600"/>
                <a:gridCol w="1943100"/>
              </a:tblGrid>
              <a:tr h="12801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Interface Method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Registry File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YAML Key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ObservationBuilder.build(env) → 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src/observations/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observation_registry.py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observation.type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RewardFunction.compute(env) → 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src/rewards/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reward_registry.py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rewards[].name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BaseAlgorithm.select_actions()</a:t>
                      </a:r>
                    </a:p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.train()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src/baselines/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algorithm_registry.py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experiment.algorithm.name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6364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  <a:latin typeface="Calibri"/>
              </a:rPr>
              <a:t>All three follow the identical discover-by-string-key pattern. New contributors only ever touch one pathway.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63240"/>
            <a:ext cx="103601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Section 3: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Init, step-loop, and training loop in detail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Initialization Flow — From YAML to Running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What happens between  python run_from_config.py  and the first  env.step() 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1828800" cy="1234440"/>
          </a:xfrm>
          <a:prstGeom prst="rect">
            <a:avLst/>
          </a:prstGeom>
          <a:solidFill>
            <a:srgbClr val="21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99032"/>
            <a:ext cx="1609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① Load Configs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828800"/>
            <a:ext cx="16093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load_all_configs()
reads 5 YAML 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0999" y="1325880"/>
            <a:ext cx="1828800" cy="12344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0728" y="1399032"/>
            <a:ext cx="1609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② Build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0728" y="1828800"/>
            <a:ext cx="16093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build_agents(cfg)
→ list[Agent]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1960" y="1325880"/>
            <a:ext cx="1828800" cy="12344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1687" y="1399032"/>
            <a:ext cx="1609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③ Create 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1687" y="1828800"/>
            <a:ext cx="16093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GridWorldEnv
(agents, **params)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16352"/>
            <a:ext cx="1828800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889504"/>
            <a:ext cx="1609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④ Wire Observations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319272"/>
            <a:ext cx="16093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observation_builder
bound as callable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0999" y="2816352"/>
            <a:ext cx="1828800" cy="1234440"/>
          </a:xfrm>
          <a:prstGeom prst="rect">
            <a:avLst/>
          </a:prstGeom>
          <a:solidFill>
            <a:srgbClr val="6C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0728" y="2889504"/>
            <a:ext cx="1609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⑤ Wire Rewards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728" y="3319272"/>
            <a:ext cx="16093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reward_fn closure
bound to env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1960" y="2816352"/>
            <a:ext cx="1828800" cy="1234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1687" y="2889504"/>
            <a:ext cx="1609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⑥ Start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1687" y="3319272"/>
            <a:ext cx="16093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AlgorithmClass
(env, cfg).train()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11430000" cy="5669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02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Result: a fully wired environment — observations, rewards, and algorithm all connected without the algorithm knowing how.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Per-Step Pipeline — Inside  env.step(actions)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Called once per timestep. Every stage is deterministic given the same state and seed.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11430000" cy="49834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① Reset per-step trackers          ( _captured_this_step = [] 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10512"/>
            <a:ext cx="1143000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② Move all agents simultaneously   ( based on actions dict 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11430000" cy="49834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140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③ Detect captures                  ( predator + prey on same cell → capture 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1143000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④ Compute rewards                  ( reward_fn(self) → dict[name → float] 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46704"/>
            <a:ext cx="11430000" cy="49834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381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⑤ Check termination / truncation   ( all prey captured OR max_steps reached 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58768"/>
            <a:ext cx="1143000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502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⑥ Render frame                     ( only if render_mode='human' or 'rgb_array' 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70832"/>
            <a:ext cx="11430000" cy="49834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622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⑦ Build observations               ( observation_builder(self) → dict[name → dict] 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82896"/>
            <a:ext cx="1143000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743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⑧ Return result dict               ( obs, reward, terminated, truncated, info 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13248"/>
            <a:ext cx="11430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486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9C12"/>
                </a:solidFill>
                <a:latin typeface="Calibri"/>
              </a:rPr>
              <a:t>⚠  Returns a dict — not the standard Gymnasium (obs, rew, term, trunc, info) tuple. Gymnasium wrapper is a Week-1 deliverable.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Training Loop — IQL Episode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492240" cy="55778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33272"/>
            <a:ext cx="6272783" cy="5431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urier New"/>
              </a:rPr>
              <a:t>for episode in range(num_episodes):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obs = env.reset()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done = False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while not done: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actions = {}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for agent_name, agent_obs in obs.items():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state = _encode_state(agent_obs)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if random() &lt; epsilon: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    actions[agent_name] = randint(0, action_dim - 1)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else: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    actions[agent_name] = argmax(q_tables[agent_name][state])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result   = env.step(actions)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for agent_name in agent_names: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s  = _encode_state(obs[agent_name])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a  = actions[agent_name]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r  = result["reward"][agent_name]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s_ = _encode_state(result["obs"][agent_name])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td = r + gamma * max(q_tables[agent_name][s_].values()) \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       - q_tables[agent_name][s][a]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q_tables[agent_name][s][a] += alpha * td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obs  = result["obs"]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done = result["terminated"] or result["truncated"]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epsilon = max(min_epsilon, epsilon * epsilon_decay)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005840"/>
            <a:ext cx="4846320" cy="1280160"/>
          </a:xfrm>
          <a:prstGeom prst="rect">
            <a:avLst/>
          </a:prstGeom>
          <a:solidFill>
            <a:srgbClr val="21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06984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Epsilon-greedy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508760"/>
            <a:ext cx="4526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Random with prob ε,
greedy otherwise.
ε decays per episode.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2377440"/>
            <a:ext cx="4846320" cy="12801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44144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Bellman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880360"/>
            <a:ext cx="4526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Q(s,a) += α[r + γ·maxQ(s',·) − Q(s,a)]
TD error drives convergence.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749039"/>
            <a:ext cx="4846320" cy="128016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81304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defaultdict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251959"/>
            <a:ext cx="4526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Q-tables auto-init new
states to zero. No
pre-allocation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5120640"/>
            <a:ext cx="484632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518464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Epsilon Decay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5623559"/>
            <a:ext cx="4526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Exploration → exploitation.
Decays after EVERY episode,
not every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63240"/>
            <a:ext cx="103601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Section 4: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Where everything lives and why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Annotated Directory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One directory = one responsibility. If something is hard to place, that is a design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7863840" cy="50749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71600"/>
            <a:ext cx="7644383" cy="4928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Courier New"/>
              </a:rPr>
              <a:t>Predator-Prey-Archetype-Gridworld-Environment/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├─ src/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├─ multi_agent_package/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│  ├─ core/           &lt;- immutable physics (gridworld.py, agent.py)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│  ├─ observations/   &lt;- 5 builders: LocalOnly, LocalRadius, Default, Absolute, Relative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│  ├─ rewards/        &lt;- 3 functions: BaseReward, PredatorDistance, Survival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│  ├─ registry/       &lt;- 3 registries: observation, reward (algorithm is in baselines)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│  └─ scripts/        &lt;- run_from_config.py, evaluate.py, sweep.py, render.py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└─ baselines/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   ├─ IQL/  CQL/  MIXED/   &lt;- one folder per algorithm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   ├─ base.py              &lt;- BaseAlgorithm abstract class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│     └─ registry/            &lt;- algorithm registry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├─ configs/              &lt;- env.yaml  agents.yaml  observations.yaml  rewards.yaml  experiment*.yaml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├─ tests/                &lt;- 189 pytest tests across 9 files (all architecture layers)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├─ notebooks/            &lt;- 01_iql_demo.ipynb  02_cql_demo.ipynb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├─ wiki/                 &lt;- 38 documentation files (SDD, ADRs, guides, concepts)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└─ .github/workflows/    &lt;- ci.yaml (in progress)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298448"/>
            <a:ext cx="3474720" cy="5074920"/>
          </a:xfrm>
          <a:prstGeom prst="rect">
            <a:avLst/>
          </a:prstGeom>
          <a:solidFill>
            <a:srgbClr val="F0F8FF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3533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Where do I...?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Change how agents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84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6E"/>
                </a:solidFill>
                <a:latin typeface="Courier New"/>
              </a:rPr>
              <a:t>→  observations/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4323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Change what agents want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883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6E"/>
                </a:solidFill>
                <a:latin typeface="Courier New"/>
              </a:rPr>
              <a:t>→  rewards/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358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Add new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6E"/>
                </a:solidFill>
                <a:latin typeface="Courier New"/>
              </a:rPr>
              <a:t>→  baselines/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6393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Tune experiment params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8953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6E"/>
                </a:solidFill>
                <a:latin typeface="Courier New"/>
              </a:rPr>
              <a:t>→  configs/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428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Understand the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498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6E"/>
                </a:solidFill>
                <a:latin typeface="Courier New"/>
              </a:rPr>
              <a:t>→  wiki/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Run a demo interactively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102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6E"/>
                </a:solidFill>
                <a:latin typeface="Courier New"/>
              </a:rPr>
              <a:t>→  notebooks/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4498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Change movement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7058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6E"/>
                </a:solidFill>
                <a:latin typeface="Courier New"/>
              </a:rPr>
              <a:t>→  talk to maintainer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Files and Their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30000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100"/>
                <a:gridCol w="1943100"/>
                <a:gridCol w="5257800"/>
              </a:tblGrid>
              <a:tr h="511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core/gridworld.py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L1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Grid simulation, step loop, capture detection</a:t>
                      </a:r>
                    </a:p>
                  </a:txBody>
                  <a:tcPr/>
                </a:tc>
              </a:tr>
              <a:tr h="511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core/agent.py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L1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Agent state, movement, 5-action map</a:t>
                      </a:r>
                    </a:p>
                  </a:txBody>
                  <a:tcPr/>
                </a:tc>
              </a:tr>
              <a:tr h="511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observations/*.py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L2 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Transform env state to per-agent percepts</a:t>
                      </a:r>
                    </a:p>
                  </a:txBody>
                  <a:tcPr/>
                </a:tc>
              </a:tr>
              <a:tr h="511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rewards/*.py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L2 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Compute per-agent reward signals</a:t>
                      </a:r>
                    </a:p>
                  </a:txBody>
                  <a:tcPr/>
                </a:tc>
              </a:tr>
              <a:tr h="511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registry/observation_registry.py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L2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Map YAML string keys to builder classes</a:t>
                      </a:r>
                    </a:p>
                  </a:txBody>
                  <a:tcPr/>
                </a:tc>
              </a:tr>
              <a:tr h="511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baselines/IQL/iql.py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L3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Independent Q-Learning — one Q-table per agent</a:t>
                      </a:r>
                    </a:p>
                  </a:txBody>
                  <a:tcPr/>
                </a:tc>
              </a:tr>
              <a:tr h="511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baselines/CQL/cql.py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L3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Centralised Q-Learning — joint action Q-tensor</a:t>
                      </a:r>
                    </a:p>
                  </a:txBody>
                  <a:tcPr/>
                </a:tc>
              </a:tr>
              <a:tr h="511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baselines/MIXED/mixed.py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L3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Per-team algorithm assignment</a:t>
                      </a:r>
                    </a:p>
                  </a:txBody>
                  <a:tcPr/>
                </a:tc>
              </a:tr>
              <a:tr h="511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scripts/run_from_config.py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L4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Entry point — loads configs, wires env, trains</a:t>
                      </a:r>
                    </a:p>
                  </a:txBody>
                  <a:tcPr/>
                </a:tc>
              </a:tr>
              <a:tr h="511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scripts/evaluate.py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L4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Greedy rollout + per-agent metrics collection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63240"/>
            <a:ext cx="103601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Section 5: Class &amp; 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The key abstractions and how they connect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Core Classes — GridWorldEnv and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486400" cy="5440680"/>
          </a:xfrm>
          <a:prstGeom prst="rect">
            <a:avLst/>
          </a:prstGeom>
          <a:solidFill>
            <a:srgbClr val="FEF5F5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GridWorldEnv(gym.Env)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Calibri"/>
              </a:rPr>
              <a:t>Attributes: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agents              list[Agent]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_obstacle_location  set of (x,y)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78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_captured_agents    set of 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reward_fn           Callable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observation_builder Callable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capture_threshold   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850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max_steps           int  |  seed  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Calibri"/>
              </a:rPr>
              <a:t>Methods: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07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Courier New"/>
              </a:rPr>
              <a:t>reset(seed)  →  obs_dict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18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Courier New"/>
              </a:rPr>
              <a:t>step(actions)  →  result_dict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Courier New"/>
              </a:rPr>
              <a:t>base_reward()  →  float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0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Courier New"/>
              </a:rPr>
              <a:t>_build_observations()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960120"/>
            <a:ext cx="5486400" cy="5440680"/>
          </a:xfrm>
          <a:prstGeom prst="rect">
            <a:avLst/>
          </a:prstGeom>
          <a:solidFill>
            <a:srgbClr val="F5F8FF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00584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CB4"/>
                </a:solidFill>
                <a:latin typeface="Calibri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Calibri"/>
              </a:rPr>
              <a:t>Attributes: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agent_name     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agent_type     'predator' | 'prey'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14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agent_team     str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34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_agent_location  [x, y]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1546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is_captured    bool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agent_speed    int   (not yet wired)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94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ourier New"/>
              </a:rPr>
              <a:t>stamina        float (not yet wired)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Calibri"/>
              </a:rPr>
              <a:t>Action Map: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5262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Courier New"/>
              </a:rPr>
              <a:t>0=Right  1=Up  2=Left  3=Down  4=Noop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937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All agents move simultaneously — not turn-by-turn.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Plugin Interfaces — Three Abstract Base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703320" cy="5166360"/>
          </a:xfrm>
          <a:prstGeom prst="rect">
            <a:avLst/>
          </a:prstGeom>
          <a:solidFill>
            <a:srgbClr val="F8F8F8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03320" cy="43891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96696"/>
            <a:ext cx="34838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ObservationBuilder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99032"/>
            <a:ext cx="3703320" cy="35661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72184"/>
            <a:ext cx="3483863" cy="3419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urier New"/>
              </a:rPr>
              <a:t>class ObservationBuilder: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def __init__(self, **params):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...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def build(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self,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env   # GridWorldEnv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) -&gt; Dict[str, dict]: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# Read env state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# Return per-agent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# observation dicts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# READ-ONLY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983480"/>
            <a:ext cx="3703320" cy="1143000"/>
          </a:xfrm>
          <a:prstGeom prst="rect">
            <a:avLst/>
          </a:prstGeom>
          <a:solidFill>
            <a:srgbClr val="F0F0F5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5047488"/>
            <a:ext cx="34838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env.observation_builder =
  builder_instance.build
Called each step.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960120"/>
            <a:ext cx="3703320" cy="5166360"/>
          </a:xfrm>
          <a:prstGeom prst="rect">
            <a:avLst/>
          </a:prstGeom>
          <a:solidFill>
            <a:srgbClr val="F8F8F8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960120"/>
            <a:ext cx="370332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996696"/>
            <a:ext cx="34838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RewardFunction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99032"/>
            <a:ext cx="3703320" cy="35661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472184"/>
            <a:ext cx="3483863" cy="3419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urier New"/>
              </a:rPr>
              <a:t>class RewardFunction: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def __init__(self,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   weight=1.0):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self.weight = weight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def compute(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self,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env   # GridWorldEnv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) -&gt; Dict[str, float]: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# Return per-agent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# reward contribution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# × self.weight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# READ-ONLY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4983480"/>
            <a:ext cx="3703320" cy="1143000"/>
          </a:xfrm>
          <a:prstGeom prst="rect">
            <a:avLst/>
          </a:prstGeom>
          <a:solidFill>
            <a:srgbClr val="F0F0F5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5047488"/>
            <a:ext cx="34838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Multiple functions combined
into one closure.
Weights from YAML.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960120"/>
            <a:ext cx="3703320" cy="5166360"/>
          </a:xfrm>
          <a:prstGeom prst="rect">
            <a:avLst/>
          </a:prstGeom>
          <a:solidFill>
            <a:srgbClr val="F8F8F8"/>
          </a:solidFill>
          <a:ln w="9525">
            <a:solidFill>
              <a:srgbClr val="6C3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960120"/>
            <a:ext cx="3703320" cy="438912"/>
          </a:xfrm>
          <a:prstGeom prst="rect">
            <a:avLst/>
          </a:prstGeom>
          <a:solidFill>
            <a:srgbClr val="6C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996696"/>
            <a:ext cx="34838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BaseAlgorithm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99032"/>
            <a:ext cx="3703320" cy="35661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1472184"/>
            <a:ext cx="3483863" cy="3419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urier New"/>
              </a:rPr>
              <a:t>class BaseAlgorithm: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def __init__(self,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         env, config):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...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def select_actions(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self, obs: dict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) -&gt; dict:  # required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def train(self):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...   # required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def evaluate(self,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episodes, max_steps):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  ...   # inherited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983480"/>
            <a:ext cx="3703320" cy="1143000"/>
          </a:xfrm>
          <a:prstGeom prst="rect">
            <a:avLst/>
          </a:prstGeom>
          <a:solidFill>
            <a:srgbClr val="F0F0F5"/>
          </a:solidFill>
          <a:ln w="9525">
            <a:solidFill>
              <a:srgbClr val="6C3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5047488"/>
            <a:ext cx="34838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Only env.reset() and
env.step() allowed.
No internal reads.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Black-Box Algorithm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What the algorithm sees — and what it must never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440680" cy="4846320"/>
          </a:xfrm>
          <a:prstGeom prst="rect">
            <a:avLst/>
          </a:prstGeom>
          <a:solidFill>
            <a:srgbClr val="F0FBF4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0"/>
                </a:solidFill>
                <a:latin typeface="Calibri"/>
              </a:rPr>
              <a:t>✓  Allowed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0"/>
                </a:solidFill>
                <a:latin typeface="Courier New"/>
              </a:rPr>
              <a:t>✓  env.reset(seed=n)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0"/>
                </a:solidFill>
                <a:latin typeface="Courier New"/>
              </a:rPr>
              <a:t>✓  env.step(actions_dict)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0"/>
                </a:solidFill>
                <a:latin typeface="Courier New"/>
              </a:rPr>
              <a:t>✓  result['obs']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7238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0"/>
                </a:solidFill>
                <a:latin typeface="Courier New"/>
              </a:rPr>
              <a:t>✓  result['reward']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0"/>
                </a:solidFill>
                <a:latin typeface="Courier New"/>
              </a:rPr>
              <a:t>✓  result['terminated']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0"/>
                </a:solidFill>
                <a:latin typeface="Courier New"/>
              </a:rPr>
              <a:t>✓  result['truncated']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2452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0"/>
                </a:solidFill>
                <a:latin typeface="Courier New"/>
              </a:rPr>
              <a:t>✓  result['info']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0857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0"/>
                </a:solidFill>
                <a:latin typeface="Courier New"/>
              </a:rPr>
              <a:t>✓  env.observation_space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9262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0"/>
                </a:solidFill>
                <a:latin typeface="Courier New"/>
              </a:rPr>
              <a:t>✓  env.action_space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5440680" cy="4846320"/>
          </a:xfrm>
          <a:prstGeom prst="rect">
            <a:avLst/>
          </a:prstGeom>
          <a:solidFill>
            <a:srgbClr val="FEF5F5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3716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✗  Must Never Touch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202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  <a:latin typeface="Courier New"/>
              </a:rPr>
              <a:t>✗  env.agents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957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  <a:latin typeface="Courier New"/>
              </a:rPr>
              <a:t>✗  env._obstacle_location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712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  <a:latin typeface="Courier New"/>
              </a:rPr>
              <a:t>✗  env._captured_agents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467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  <a:latin typeface="Courier New"/>
              </a:rPr>
              <a:t>✗  agent._agent_location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2219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  <a:latin typeface="Courier New"/>
              </a:rPr>
              <a:t>✗  agent.is_captured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79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  <a:latin typeface="Courier New"/>
              </a:rPr>
              <a:t>✗  env.reward_fn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7316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  <a:latin typeface="Courier New"/>
              </a:rPr>
              <a:t>✗  env.observation_builder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236208"/>
            <a:ext cx="11430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2910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rule: any algorithm written here must work with any env that implements reset() + step(). That is what makes baselines reusable across all experimental conditions.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63240"/>
            <a:ext cx="103601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Section 6: Connection to RL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From Bellman equations to running 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Single-Agent MDP — Every Component Maps to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A Markov Decision Process is (S, A, R, P, γ). Here is exactly where each lives in this project.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028700"/>
                <a:gridCol w="5029200"/>
                <a:gridCol w="342900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MDP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 This Codebase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 File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State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Output of ObservationBuilder.build(env)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observations/*.py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Action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5-action discrete: {Right, Up, Left, Down, Noop}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core/agent.py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Reward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R(s,a)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RewardFunction.compute(env) + base_reward()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rewards/*.py + core/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Transition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P(s'|s,a)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GridWorldEnv.step() — deterministic given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core/gridworld.py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Discount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config['experiment']['gamma']  (default: 0.95)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configs/experiment.yaml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π(a|s)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Q-table + epsilon-greedy in select_actions()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baselines/IQL/iql.py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Value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Q(s,a)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defaultdict — states init to zero on first visit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Calibri"/>
                        </a:rPr>
                        <a:t>baselines/IQL/iql.py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Bellman Equation — Math to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The update rule that drives all tabular Q-learning in this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960120"/>
          </a:xfrm>
          <a:prstGeom prst="rect">
            <a:avLst/>
          </a:prstGeom>
          <a:solidFill>
            <a:srgbClr val="EDEDED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3A5F"/>
                </a:solidFill>
                <a:latin typeface="Calibri"/>
              </a:rPr>
              <a:t>Q(s, a)  ←  Q(s, a)  +  α  ·  [ r  +  γ · max  Q(s', a')  −  Q(s, a)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2011680" cy="1920240"/>
          </a:xfrm>
          <a:prstGeom prst="rect">
            <a:avLst/>
          </a:prstGeom>
          <a:solidFill>
            <a:srgbClr val="21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96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α  (alpha)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Learning rate
How fast we update
Default: 0.1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423160"/>
            <a:ext cx="2011680" cy="19202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496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Immediate reward
result['reward']
[agent_name]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423160"/>
            <a:ext cx="2011680" cy="19202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496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γ  (gamma)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Discount factor
Future reward weight
Default: 0.95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423160"/>
            <a:ext cx="201168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496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max Q(s', ·)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Best Q-value in
next state across
all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423160"/>
            <a:ext cx="201168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496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− Q(s, 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Removes current
estimate — gives
the TD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17720"/>
            <a:ext cx="11274552" cy="12344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690872"/>
            <a:ext cx="11055096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  <a:latin typeface="Courier New"/>
              </a:rPr>
              <a:t>td_error = reward + gamma * max(q_tables[agent][s_next].values()) - q_tables[agent][s][a]</a:t>
            </a:r>
          </a:p>
          <a:p>
            <a:r>
              <a:rPr sz="1500">
                <a:solidFill>
                  <a:srgbClr val="2D2D2D"/>
                </a:solidFill>
                <a:latin typeface="Courier New"/>
              </a:rPr>
              <a:t>q_tables[agent][s][a] += alpha * td_error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  <a:latin typeface="Calibri"/>
              </a:rPr>
              <a:t>q_tables is a defaultdict(lambda: defaultdict(float)) — new states auto-init to zero.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From MDP to Markov Game — The MARL Jump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Adding more agents changes the problem structure — not just its size.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440680" cy="4480560"/>
          </a:xfrm>
          <a:prstGeom prst="rect">
            <a:avLst/>
          </a:prstGeom>
          <a:solidFill>
            <a:srgbClr val="F5F8FF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16CB4"/>
                </a:solidFill>
                <a:latin typeface="Calibri"/>
              </a:rPr>
              <a:t>Single-Agent MDP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ourier New"/>
              </a:rPr>
              <a:t>State:  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ourier New"/>
              </a:rPr>
              <a:t>Action:  A  (one agent)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8833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ourier New"/>
              </a:rPr>
              <a:t>Reward:  R(s,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7238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ourier New"/>
              </a:rPr>
              <a:t>Trans:   P(s' | s,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564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ourier New"/>
              </a:rPr>
              <a:t>Goal:    max Σ γᵗ Rₜ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ourier New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245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ourier New"/>
              </a:rPr>
              <a:t>Environment is stationary: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0857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ourier New"/>
              </a:rPr>
              <a:t>rules don't change as agent learns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5440680" cy="4480560"/>
          </a:xfrm>
          <a:prstGeom prst="rect">
            <a:avLst/>
          </a:prstGeom>
          <a:solidFill>
            <a:srgbClr val="FFF5F0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716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7E22"/>
                </a:solidFill>
                <a:latin typeface="Calibri"/>
              </a:rPr>
              <a:t>Markov Game  (MARL)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202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ourier New"/>
              </a:rPr>
              <a:t>State:   S  (shared by all agents)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860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ourier New"/>
              </a:rPr>
              <a:t>Action:  A₁ × A₂ × … × Aₙ  (joint)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517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ourier New"/>
              </a:rPr>
              <a:t>Reward:  Rᵢ(s, a₁,…,aₙ)  per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1752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ourier New"/>
              </a:rPr>
              <a:t>Trans:   P(s' | s, a₁, …, aₙ)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83279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ourier New"/>
              </a:rPr>
              <a:t>Goal:    each agent max Σ γᵗ Rᵢₜ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49039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ourier New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1148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ourier New"/>
              </a:rPr>
              <a:t>Non-stationarity: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805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ourier New"/>
              </a:rPr>
              <a:t>from agent i's view the 'environment'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84632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ourier New"/>
              </a:rPr>
              <a:t>keeps changing as others learn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96188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 this env: predators and prey are adversarial teams. Each team's reward depends on the other's actions. Neither side is stationary from the other's perspective.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63240"/>
            <a:ext cx="103601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Section 7: The MARL Algorithm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How the architecture enables different coordination strategies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Algorithm Spectrum — Decentralised to Centralised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Each algorithm makes a different trade-off between coordination ability and scalability.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2953512" cy="365760"/>
          </a:xfrm>
          <a:prstGeom prst="rect">
            <a:avLst/>
          </a:prstGeom>
          <a:solidFill>
            <a:srgbClr val="21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19272" y="1389888"/>
            <a:ext cx="2953512" cy="3657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2784" y="1389888"/>
            <a:ext cx="2953512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26296" y="1389888"/>
            <a:ext cx="2953512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08176"/>
            <a:ext cx="11393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Decentralised ←──────────────────────────────────────────────────── Centralised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2834640" cy="4572000"/>
          </a:xfrm>
          <a:prstGeom prst="rect">
            <a:avLst/>
          </a:prstGeom>
          <a:solidFill>
            <a:srgbClr val="F8F8F8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2834640" cy="502920"/>
          </a:xfrm>
          <a:prstGeom prst="rect">
            <a:avLst/>
          </a:prstGeom>
          <a:solidFill>
            <a:srgbClr val="21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019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IQL
(Independent Q-Learning)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450592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One Q-table per agent.
Each learns as if alone.
Ignores teammates.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749039"/>
            <a:ext cx="2615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✓  Scales to any n agents
✓  Simple to implement
✗  Non-stationarity
✗  Coordination emergent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874519"/>
            <a:ext cx="2834640" cy="4572000"/>
          </a:xfrm>
          <a:prstGeom prst="rect">
            <a:avLst/>
          </a:prstGeom>
          <a:solidFill>
            <a:srgbClr val="F8F8F8"/>
          </a:solidFill>
          <a:ln w="9525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874519"/>
            <a:ext cx="2834640" cy="50292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19019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MixedTrainer
(Per-Team)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450592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Predator team uses one algo,
prey team uses another.
Decision per team.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749039"/>
            <a:ext cx="2615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✓  Team-level coordination
✓  Flexible per-team choice
✗  No cross-team model
✗  Each team still non-stationary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3" y="1874519"/>
            <a:ext cx="2834640" cy="4572000"/>
          </a:xfrm>
          <a:prstGeom prst="rect">
            <a:avLst/>
          </a:prstGeom>
          <a:solidFill>
            <a:srgbClr val="F8F8F8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3" y="1874519"/>
            <a:ext cx="283464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3" y="19019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CQL
(Centralised Q-Learning)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450592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One Q-table over the joint
action space A₁×A₂×…×Aₙ.
Finds true joint optimum.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749039"/>
            <a:ext cx="2615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✓  True joint optimisation
✓  No non-stationarity
✗  Scales as 5ⁿ actions
✗  Impractical &gt; 4 agents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26296" y="1874519"/>
            <a:ext cx="2834640" cy="4572000"/>
          </a:xfrm>
          <a:prstGeom prst="rect">
            <a:avLst/>
          </a:prstGeom>
          <a:solidFill>
            <a:srgbClr val="F8F8F8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26296" y="1874519"/>
            <a:ext cx="28346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19019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Nash Q-Learning
(1v1 — Week 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450592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Game-theoretic equilibrium.
Each agent best-responds to
opponent's mixed strategy.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749039"/>
            <a:ext cx="2615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✓  Game-theoretic optimality
✓  Handles adversarial fully
✗  1v1 only (needs LP solver)
✗  General-sum is NP-hard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the Architecture Makes Extensibility Effortless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Adding CQL and MixedTrainer required: one file each, one registry line each, one YAML each. Zero core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1508760"/>
          </a:xfrm>
          <a:prstGeom prst="rect">
            <a:avLst/>
          </a:prstGeom>
          <a:solidFill>
            <a:srgbClr val="F9F9F9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264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Adding CQL to an IQL-only repo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83664"/>
            <a:ext cx="5029200" cy="868680"/>
          </a:xfrm>
          <a:prstGeom prst="rect">
            <a:avLst/>
          </a:prstGeom>
          <a:solidFill>
            <a:srgbClr val="FEF5F5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4754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Before: Only IQL.py in baselines/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83664"/>
            <a:ext cx="5440680" cy="868680"/>
          </a:xfrm>
          <a:prstGeom prst="rect">
            <a:avLst/>
          </a:prstGeom>
          <a:solidFill>
            <a:srgbClr val="F0FBF4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38528"/>
            <a:ext cx="5166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After: + CQL.py in baselines/CQL/
+ one line in algorithm_registry.py
+ experiment_cql.yaml in configs/
= zero changes to core, obs, rewards, or IQL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35808"/>
            <a:ext cx="11430000" cy="1508760"/>
          </a:xfrm>
          <a:prstGeom prst="rect">
            <a:avLst/>
          </a:prstGeom>
          <a:solidFill>
            <a:srgbClr val="F9F9F9"/>
          </a:solidFill>
          <a:ln w="9525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6E6E"/>
                </a:solidFill>
                <a:latin typeface="Calibri"/>
              </a:rPr>
              <a:t>Adding MixedTrainer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47872"/>
            <a:ext cx="5029200" cy="868680"/>
          </a:xfrm>
          <a:prstGeom prst="rect">
            <a:avLst/>
          </a:prstGeom>
          <a:solidFill>
            <a:srgbClr val="FEF5F5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02736"/>
            <a:ext cx="4754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Before: Only IQL.py + CQL.py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813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6E6E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47872"/>
            <a:ext cx="5440680" cy="868680"/>
          </a:xfrm>
          <a:prstGeom prst="rect">
            <a:avLst/>
          </a:prstGeom>
          <a:solidFill>
            <a:srgbClr val="F0FBF4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02736"/>
            <a:ext cx="5166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After: + mixed.py in baselines/MIXED/
+ one line in algorithm_registry.py
+ experiment_mixed.yaml
= zero changes anywhere else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0016"/>
            <a:ext cx="11430000" cy="1508760"/>
          </a:xfrm>
          <a:prstGeom prst="rect">
            <a:avLst/>
          </a:prstGeom>
          <a:solidFill>
            <a:srgbClr val="F9F9F9"/>
          </a:solidFill>
          <a:ln w="9525">
            <a:solidFill>
              <a:srgbClr val="6C3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7548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3B9E"/>
                </a:solidFill>
                <a:latin typeface="Calibri"/>
              </a:rPr>
              <a:t>Adding Nash Q-Learning (Week 9)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12080"/>
            <a:ext cx="5029200" cy="868680"/>
          </a:xfrm>
          <a:prstGeom prst="rect">
            <a:avLst/>
          </a:prstGeom>
          <a:solidFill>
            <a:srgbClr val="FEF5F5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266944"/>
            <a:ext cx="4754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Before: IQL + CQL + MixedTrainer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4772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3B9E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212080"/>
            <a:ext cx="5440680" cy="868680"/>
          </a:xfrm>
          <a:prstGeom prst="rect">
            <a:avLst/>
          </a:prstGeom>
          <a:solidFill>
            <a:srgbClr val="F0FBF4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266944"/>
            <a:ext cx="5166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After: + nashq.py in baselines/NASHQ/
+ one line in algorithm_registry.py
+ experiment_nashq.yaml
= zero changes to prior baselines or 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236208"/>
            <a:ext cx="11430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2910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invariant: adding an algorithm never changes the environment, plugins, or other algorithms. Scientific comparability is always preserved.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Scaling Wall — When CQL Breaks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Joint action spaces grow exponentially. This is why deep MARL methods exist.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768095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715"/>
                <a:gridCol w="1152144"/>
                <a:gridCol w="1920240"/>
                <a:gridCol w="2150668"/>
                <a:gridCol w="1536192"/>
              </a:tblGrid>
              <a:tr h="655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Agents (n)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IQL Q-tables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CQL Joint Actions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CQL Practical?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1v1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2 × |S|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5²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1v2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3 × |S|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5³ = 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2v2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4 × |S|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5⁴ = 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Yes (barely)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3v3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6 × |S|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5⁶ = 15,625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5v5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10 × |S|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5¹⁰ ≈ 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321040" y="1371600"/>
            <a:ext cx="356616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426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Calibri"/>
              </a:rPr>
              <a:t>Joint space grows 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7451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392B"/>
                </a:solidFill>
                <a:latin typeface="Calibri"/>
              </a:rPr>
              <a:t>dⁿ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7249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  <a:latin typeface="Calibri"/>
              </a:rPr>
              <a:t>d = 5 actions  •  n =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3657600"/>
            <a:ext cx="3566160" cy="1600200"/>
          </a:xfrm>
          <a:prstGeom prst="rect">
            <a:avLst/>
          </a:prstGeom>
          <a:solidFill>
            <a:srgbClr val="FFF5F0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49039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Why IQL survives:
Each agent has its OWN
Q-table — no joint space.
O(n · |S| · d)  not  O(|S| · dⁿ)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486400"/>
            <a:ext cx="11430000" cy="1188720"/>
          </a:xfrm>
          <a:prstGeom prst="rect">
            <a:avLst/>
          </a:prstGeom>
          <a:solidFill>
            <a:srgbClr val="FFF8F0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559552"/>
            <a:ext cx="10972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This project: optimised for ≤ 4 agents on grids ≤ 10×10.
For larger games, the natural next step is CTDE (Centralised Training, Decentralised Execution) methods
such as QMIX or MADDPG — deep RL baselines planned for future work.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63240"/>
            <a:ext cx="103601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Section 8: Contributing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Rules, pathways, and checklist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Golden Rule — Immutable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One rule protects the scientific integrity of every experiment run on this codebase.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3032" cy="1325880"/>
          </a:xfrm>
          <a:prstGeom prst="rect">
            <a:avLst/>
          </a:prstGeom>
          <a:solidFill>
            <a:srgbClr val="1E3A5F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core/gridworld.py  and  core/agent.py  are NEVER modified by contributors.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19C12"/>
                </a:solidFill>
                <a:latin typeface="Calibri"/>
              </a:rPr>
              <a:t>All variation is expressed through config files, observation plugins, reward plugins, and algorithm plugins.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  <a:latin typeface="Calibri"/>
              </a:rPr>
              <a:t>Why?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01568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  <a:latin typeface="Calibri"/>
              </a:rPr>
              <a:t>•  Any physics change invalidates comparisons across ALL prior experiments — you lose the baseline</a:t>
            </a:r>
          </a:p>
          <a:p>
            <a:r>
              <a:rPr sz="1600">
                <a:solidFill>
                  <a:srgbClr val="2D2D2D"/>
                </a:solidFill>
                <a:latin typeface="Calibri"/>
              </a:rPr>
              <a:t>•  The invariant is what makes this a fair test bed: change the rules, lose the comparison</a:t>
            </a:r>
          </a:p>
          <a:p>
            <a:r>
              <a:rPr sz="1600">
                <a:solidFill>
                  <a:srgbClr val="2D2D2D"/>
                </a:solidFill>
                <a:latin typeface="Calibri"/>
              </a:rPr>
              <a:t>•  Every variation you need can be expressed through the three plugin layers</a:t>
            </a:r>
          </a:p>
          <a:p>
            <a:r>
              <a:rPr sz="1600">
                <a:solidFill>
                  <a:srgbClr val="2D2D2D"/>
                </a:solidFill>
                <a:latin typeface="Calibri"/>
              </a:rPr>
              <a:t>•  If it cannot, that is a discussion for maintainers — not a unilateral edit</a:t>
            </a:r>
          </a:p>
          <a:p>
            <a:r>
              <a:rPr sz="1600">
                <a:solidFill>
                  <a:srgbClr val="2D2D2D"/>
                </a:solidFill>
                <a:latin typeface="Calibri"/>
              </a:rPr>
              <a:t>•  Enforced by: code review + CONTRIBUTING.md + ADR-001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Three Contribution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Every contribution fits one of these patterns. Following the pathway = guaranteed clean merge.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1371600"/>
          </a:xfrm>
          <a:prstGeom prst="rect">
            <a:avLst/>
          </a:prstGeom>
          <a:solidFill>
            <a:srgbClr val="F8F8F8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420624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264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Pathway 1: New Observation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01368"/>
            <a:ext cx="11430000" cy="93268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874519"/>
            <a:ext cx="11210544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urier New"/>
              </a:rPr>
              <a:t>1. src/observations/my_obs.py  — subclass ObservationBuilder, implement build(env)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2. Add one line to  observation_registry.py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3. Add YAML key to  configs/observations.yaml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4. Write tests in  tests/test_observations.py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52928"/>
            <a:ext cx="11430000" cy="1371600"/>
          </a:xfrm>
          <a:prstGeom prst="rect">
            <a:avLst/>
          </a:prstGeom>
          <a:solidFill>
            <a:srgbClr val="F8F8F8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852928"/>
            <a:ext cx="11430000" cy="42062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07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Pathway 2: New Reward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82696"/>
            <a:ext cx="11430000" cy="93268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355848"/>
            <a:ext cx="11210544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urier New"/>
              </a:rPr>
              <a:t>1. src/rewards/my_reward.py  — subclass RewardFunction, implement compute(env)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2. Add one line to  reward_registry.py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3. Add YAML block to  configs/rewards.yaml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4. Write tests in  tests/test_rewards.py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34256"/>
            <a:ext cx="11430000" cy="1691640"/>
          </a:xfrm>
          <a:prstGeom prst="rect">
            <a:avLst/>
          </a:prstGeom>
          <a:solidFill>
            <a:srgbClr val="F8F8F8"/>
          </a:solidFill>
          <a:ln w="9525">
            <a:solidFill>
              <a:srgbClr val="6C3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334256"/>
            <a:ext cx="11430000" cy="420624"/>
          </a:xfrm>
          <a:prstGeom prst="rect">
            <a:avLst/>
          </a:prstGeom>
          <a:solidFill>
            <a:srgbClr val="6C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Pathway 3: New Learning Algorithm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64024"/>
            <a:ext cx="11430000" cy="125272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837176"/>
            <a:ext cx="11210544" cy="1106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urier New"/>
              </a:rPr>
              <a:t>1. src/baselines/MYALGO/myalgo.py  — subclass BaseAlgorithm, implement select_actions() + train()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2. Add self-registration guard at module level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3. Import in  baselines/__init__.py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4. Add  configs/experiment_myalgo.yaml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5. Write tests in  tests/test_baselines_myalgo.py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63240"/>
            <a:ext cx="103601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Section 9: End-to-End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One command, traceable from YAML to trained policy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Scenario — Train Predators to Capture Prey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8"/>
                </a:solidFill>
                <a:latin typeface="Calibri"/>
              </a:rPr>
              <a:t>Goal: 2 predators learn to capture 2 prey on a 6×6 grid using IQL + distance shaping.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0" cy="21945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53312"/>
            <a:ext cx="3255263" cy="20482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Courier New"/>
              </a:rPr>
              <a:t># env.yaml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grid_size: 6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max_steps: 200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capture_threshold: 1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perc_num_obstacle: 15.0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render_mode: null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seed: 42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280160"/>
            <a:ext cx="3474720" cy="3657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33088" y="1353312"/>
            <a:ext cx="3255263" cy="3511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Courier New"/>
              </a:rPr>
              <a:t># agents.yaml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agents: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- name: pred_0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  type: predator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  team: predators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- name: pred_1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  type: predator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  team: predators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- name: prey_0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  type: prey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  team: prey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- name: prey_1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  type: prey</a:t>
            </a:r>
          </a:p>
          <a:p>
            <a:r>
              <a:rPr sz="1200">
                <a:solidFill>
                  <a:srgbClr val="2D2D2D"/>
                </a:solidFill>
                <a:latin typeface="Courier New"/>
              </a:rPr>
              <a:t>    team: prey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280160"/>
            <a:ext cx="4160520" cy="49377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353312"/>
            <a:ext cx="3941063" cy="4791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urier New"/>
              </a:rPr>
              <a:t># observations.yaml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observation: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type: local_radius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params: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radius: 3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# rewards.yaml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rewards: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- name: base_reward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weight: 1.0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- name: predator_distance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weight: 0.5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# experiment.yaml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experiment: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algorithm: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  name: iql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episodes: 1000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alpha: 0.1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gamma: 0.95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epsilon: 1.0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epsilon_decay: 0.995</a:t>
            </a:r>
          </a:p>
          <a:p>
            <a:r>
              <a:rPr sz="1100">
                <a:solidFill>
                  <a:srgbClr val="2D2D2D"/>
                </a:solidFill>
                <a:latin typeface="Courier New"/>
              </a:rPr>
              <a:t>  min_epsilon: 0.01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11880"/>
            <a:ext cx="7132320" cy="8229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685032"/>
            <a:ext cx="6912864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D2D2D"/>
                </a:solidFill>
                <a:latin typeface="Courier New"/>
              </a:rPr>
              <a:t># ONE COMMAND — no training code written</a:t>
            </a:r>
          </a:p>
          <a:p>
            <a:r>
              <a:rPr sz="1400">
                <a:solidFill>
                  <a:srgbClr val="2D2D2D"/>
                </a:solidFill>
                <a:latin typeface="Courier New"/>
              </a:rPr>
              <a:t>python -m multi_agent_package.scripts.run_from_config --config configs/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  <a:latin typeface="Calibri"/>
              </a:rPr>
              <a:t>The only code you write is config. The system assembles everything.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One Command — Full Training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What happens when you hit Enter: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114300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9C12"/>
                </a:solidFill>
                <a:latin typeface="Courier New"/>
              </a:rPr>
              <a:t>python -m multi_agent_package.scripts.run_from_config  --config configs/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1831848" cy="457200"/>
          </a:xfrm>
          <a:prstGeom prst="rect">
            <a:avLst/>
          </a:prstGeom>
          <a:solidFill>
            <a:srgbClr val="21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39696"/>
            <a:ext cx="1685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① 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1831848" cy="960120"/>
          </a:xfrm>
          <a:prstGeom prst="rect">
            <a:avLst/>
          </a:prstGeom>
          <a:solidFill>
            <a:srgbClr val="EDEDED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624328"/>
            <a:ext cx="16855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2D2D"/>
                </a:solidFill>
                <a:latin typeface="Calibri"/>
              </a:rPr>
              <a:t>5 YAML files
→ merged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70760" y="2103120"/>
            <a:ext cx="1831848" cy="4572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3912" y="2139696"/>
            <a:ext cx="1685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②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70760" y="2560320"/>
            <a:ext cx="1831848" cy="960120"/>
          </a:xfrm>
          <a:prstGeom prst="rect">
            <a:avLst/>
          </a:prstGeom>
          <a:solidFill>
            <a:srgbClr val="EDEDED"/>
          </a:solidFill>
          <a:ln w="9525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3912" y="2624328"/>
            <a:ext cx="16855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2D2D"/>
                </a:solidFill>
                <a:latin typeface="Calibri"/>
              </a:rPr>
              <a:t>4 Agent objects
pred_0…prey_1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5760" y="2103120"/>
            <a:ext cx="1831848" cy="45720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912" y="2139696"/>
            <a:ext cx="1685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③ Env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5760" y="2560320"/>
            <a:ext cx="1831848" cy="960120"/>
          </a:xfrm>
          <a:prstGeom prst="rect">
            <a:avLst/>
          </a:prstGeom>
          <a:solidFill>
            <a:srgbClr val="EDEDED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8912" y="2624328"/>
            <a:ext cx="16855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2D2D"/>
                </a:solidFill>
                <a:latin typeface="Calibri"/>
              </a:rPr>
              <a:t>GridWorldEnv
size=6, seed=42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103120"/>
            <a:ext cx="1831848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139696"/>
            <a:ext cx="1685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④ Obs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560320"/>
            <a:ext cx="1831848" cy="960120"/>
          </a:xfrm>
          <a:prstGeom prst="rect">
            <a:avLst/>
          </a:prstGeom>
          <a:solidFill>
            <a:srgbClr val="EDEDED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624328"/>
            <a:ext cx="16855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2D2D"/>
                </a:solidFill>
                <a:latin typeface="Calibri"/>
              </a:rPr>
              <a:t>LocalRadius(r=3)
→ env.obs_builder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5760" y="2103120"/>
            <a:ext cx="1831848" cy="457200"/>
          </a:xfrm>
          <a:prstGeom prst="rect">
            <a:avLst/>
          </a:prstGeom>
          <a:solidFill>
            <a:srgbClr val="6C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8912" y="2139696"/>
            <a:ext cx="1685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⑤ Reward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5760" y="2560320"/>
            <a:ext cx="1831848" cy="960120"/>
          </a:xfrm>
          <a:prstGeom prst="rect">
            <a:avLst/>
          </a:prstGeom>
          <a:solidFill>
            <a:srgbClr val="EDEDED"/>
          </a:solidFill>
          <a:ln w="9525">
            <a:solidFill>
              <a:srgbClr val="6C3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8912" y="2624328"/>
            <a:ext cx="16855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2D2D"/>
                </a:solidFill>
                <a:latin typeface="Calibri"/>
              </a:rPr>
              <a:t>Base + Distance
→ env.reward_fn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90760" y="2103120"/>
            <a:ext cx="1831848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3912" y="2139696"/>
            <a:ext cx="1685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⑥ Train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90760" y="2560320"/>
            <a:ext cx="1831848" cy="960120"/>
          </a:xfrm>
          <a:prstGeom prst="rect">
            <a:avLst/>
          </a:prstGeom>
          <a:solidFill>
            <a:srgbClr val="EDEDED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3912" y="2624328"/>
            <a:ext cx="16855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2D2D"/>
                </a:solidFill>
                <a:latin typeface="Calibri"/>
              </a:rPr>
              <a:t>IQL.train()
1000 episodes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49039"/>
            <a:ext cx="11430000" cy="2788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039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  <a:latin typeface="Calibri"/>
              </a:rPr>
              <a:t>Console output: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160520"/>
            <a:ext cx="10972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41"/>
                </a:solidFill>
                <a:latin typeface="Courier New"/>
              </a:rPr>
              <a:t>Episode  100/1000  |  avg_reward: -12.4  |  captures: 0.12  |  epsilon: 0.607
Episode  200/1000  |  avg_reward:  -8.1  |  captures: 0.31  |  epsilon: 0.368
Episode  500/1000  |  avg_reward:   2.7  |  captures: 0.64  |  epsilon: 0.082
Episode 1000/1000  |  avg_reward:  14.2  |  captures: 0.88  |  epsilon: 0.010
Training complete. Saved: checkpoints/iql_pred_0.pkl  (+ 3 others)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Same seed + same YAMLs reproduces this result exactly on any machine.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52120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798"/>
                <a:gridCol w="1407261"/>
                <a:gridCol w="130302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Trained Policy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Random Policy</a:t>
                      </a:r>
                    </a:p>
                  </a:txBody>
                  <a:tcPr>
                    <a:solidFill>
                      <a:srgbClr val="0D6E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Capture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Avg episode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67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198 steps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Avg total reward (pred)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+14.2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-8.6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Avg total reward (prey)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-31.0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-4.1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Unique states 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1,847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2D2D"/>
                          </a:solidFill>
                          <a:latin typeface="Calibri"/>
                        </a:rPr>
                        <a:t>312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120640"/>
            <a:ext cx="5212080" cy="8686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5193792"/>
            <a:ext cx="4992624" cy="722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2D2D"/>
                </a:solidFill>
                <a:latin typeface="Courier New"/>
              </a:rPr>
              <a:t>python -m multi_agent_package.scripts.evaluate \</a:t>
            </a:r>
          </a:p>
          <a:p>
            <a:r>
              <a:rPr sz="1300">
                <a:solidFill>
                  <a:srgbClr val="2D2D2D"/>
                </a:solidFill>
                <a:latin typeface="Courier New"/>
              </a:rPr>
              <a:t>  --checkpoint checkpoints/ --episodes 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371600"/>
            <a:ext cx="6126480" cy="4389120"/>
          </a:xfrm>
          <a:prstGeom prst="rect">
            <a:avLst/>
          </a:prstGeom>
          <a:solidFill>
            <a:srgbClr val="F8F8FF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42646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How to read the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2024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CB4"/>
                </a:solidFill>
                <a:latin typeface="Calibri"/>
              </a:rPr>
              <a:t>▶  Reward curve rising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67712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Predators learned to move toward prey.
Distance shaping drove this behaviour.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92608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CB4"/>
                </a:solidFill>
                <a:latin typeface="Calibri"/>
              </a:rPr>
              <a:t>▶  Episode length falling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273552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Captures happen earlier as policy improves.
Random agents always hit max_steps.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CB4"/>
                </a:solidFill>
                <a:latin typeface="Calibri"/>
              </a:rPr>
              <a:t>▶  States visited growing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279392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Q-table coverage expands during exploration
then stabilises when epsilon is 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93776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CB4"/>
                </a:solidFill>
                <a:latin typeface="Calibri"/>
              </a:rPr>
              <a:t>▶  Prey reward drops too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285232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Prey Q-tables also learn evasion —
but predators win this game.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We Are — and Where We're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Ten weeks, four students, one JOSS paper.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49240" cy="4892040"/>
          </a:xfrm>
          <a:prstGeom prst="rect">
            <a:avLst/>
          </a:prstGeom>
          <a:solidFill>
            <a:srgbClr val="F0FBF4"/>
          </a:solidFill>
          <a:ln w="9525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A40"/>
                </a:solidFill>
                <a:latin typeface="Calibri"/>
              </a:rPr>
              <a:t>Current State  (start of Week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Discrete gridworld (up to 10×10)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00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5 observation builders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254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3 reward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IQL + CQL + MixedTrainer (tabular)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76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189 pytest tests across 9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519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Full SDD wiki (38 documents)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274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Interactive notebooks (IQL + CQL)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0293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Calibri"/>
              </a:rPr>
              <a:t>✓  CI pipeline (in progress)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806440" cy="4892040"/>
          </a:xfrm>
          <a:prstGeom prst="rect">
            <a:avLst/>
          </a:prstGeom>
          <a:solidFill>
            <a:srgbClr val="F5F8FF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CB4"/>
                </a:solidFill>
                <a:latin typeface="Calibri"/>
              </a:rPr>
              <a:t>10-Week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74519"/>
            <a:ext cx="539496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65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ourier New"/>
              </a:rPr>
              <a:t>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965960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Bug fixes • Gymnasium wrapper • CI passing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97479"/>
            <a:ext cx="539496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788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ourier New"/>
              </a:rPr>
              <a:t>Weeks 2–4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788920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IDQN — neural Q-learning per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520439"/>
            <a:ext cx="539496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61187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ourier New"/>
              </a:rPr>
              <a:t>Weeks 5–6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611879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IPPO — actor-critic, policy gradient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343400"/>
            <a:ext cx="539496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4348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ourier New"/>
              </a:rPr>
              <a:t>Weeks 7–9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434840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Nash Q-Learning — 1v1 minimax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166360"/>
            <a:ext cx="539496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5257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ourier New"/>
              </a:rPr>
              <a:t>Week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257800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JOSS paper + final documentation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Resources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3601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657600" cy="4754880"/>
          </a:xfrm>
          <a:prstGeom prst="rect">
            <a:avLst/>
          </a:prstGeom>
          <a:solidFill>
            <a:srgbClr val="0D2238"/>
          </a:solidFill>
          <a:ln w="9525">
            <a:solidFill>
              <a:srgbClr val="21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457200"/>
          </a:xfrm>
          <a:prstGeom prst="rect">
            <a:avLst/>
          </a:prstGeom>
          <a:solidFill>
            <a:srgbClr val="21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Start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 wiki/index.md  — documentation entry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 notebooks/01_iql_demo.ipynb  — interactive IQL walk-through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 QUICKSTART.md  — install + first run in 5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691640"/>
            <a:ext cx="3657600" cy="4754880"/>
          </a:xfrm>
          <a:prstGeom prst="rect">
            <a:avLst/>
          </a:prstGeom>
          <a:solidFill>
            <a:srgbClr val="0D2238"/>
          </a:solidFill>
          <a:ln w="9525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691640"/>
            <a:ext cx="3657600" cy="4572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 Sutton &amp; Barto (2018)  — Chapters 6,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718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 Hu &amp; Wellman (2003)  — Nash Q-Learning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6576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 Littman (2001)  — Friend-or-Foe Q-Learning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691640"/>
            <a:ext cx="3657600" cy="4754880"/>
          </a:xfrm>
          <a:prstGeom prst="rect">
            <a:avLst/>
          </a:prstGeom>
          <a:solidFill>
            <a:srgbClr val="0D2238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1691640"/>
            <a:ext cx="36576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2860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 wiki/weekly/week-01.md  — full task list with owners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718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 wiki/reviews/audit-2026-06-07.md  — known bugs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6576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 CONTRIBUTING.md  — pull request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19C12"/>
                </a:solidFill>
                <a:latin typeface="Calibri"/>
              </a:rPr>
              <a:t>Build understanding from the ground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